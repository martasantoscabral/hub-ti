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liker" panose="020B0604020202020204" charset="0"/>
      <p:regular r:id="rId12"/>
    </p:embeddedFont>
    <p:embeddedFont>
      <p:font typeface="Gliker 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Smile Font TH" panose="020B0604020202020204" charset="-3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62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sv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svg"/><Relationship Id="rId5" Type="http://schemas.openxmlformats.org/officeDocument/2006/relationships/image" Target="../media/image6.sv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svg"/><Relationship Id="rId7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svg"/><Relationship Id="rId7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23.png"/><Relationship Id="rId10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6.svg"/><Relationship Id="rId5" Type="http://schemas.openxmlformats.org/officeDocument/2006/relationships/image" Target="../media/image13.svg"/><Relationship Id="rId10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svg"/><Relationship Id="rId7" Type="http://schemas.openxmlformats.org/officeDocument/2006/relationships/image" Target="../media/image31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02535">
            <a:off x="9486460" y="445076"/>
            <a:ext cx="13782044" cy="9396848"/>
          </a:xfrm>
          <a:custGeom>
            <a:avLst/>
            <a:gdLst/>
            <a:ahLst/>
            <a:cxnLst/>
            <a:rect l="l" t="t" r="r" b="b"/>
            <a:pathLst>
              <a:path w="13782044" h="9396848">
                <a:moveTo>
                  <a:pt x="0" y="0"/>
                </a:moveTo>
                <a:lnTo>
                  <a:pt x="13782044" y="0"/>
                </a:lnTo>
                <a:lnTo>
                  <a:pt x="13782044" y="9396848"/>
                </a:lnTo>
                <a:lnTo>
                  <a:pt x="0" y="939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-4002535">
            <a:off x="-3249737" y="-3082493"/>
            <a:ext cx="14299544" cy="9749689"/>
          </a:xfrm>
          <a:custGeom>
            <a:avLst/>
            <a:gdLst/>
            <a:ahLst/>
            <a:cxnLst/>
            <a:rect l="l" t="t" r="r" b="b"/>
            <a:pathLst>
              <a:path w="14299544" h="9749689">
                <a:moveTo>
                  <a:pt x="0" y="0"/>
                </a:moveTo>
                <a:lnTo>
                  <a:pt x="14299545" y="0"/>
                </a:lnTo>
                <a:lnTo>
                  <a:pt x="14299545" y="9749690"/>
                </a:lnTo>
                <a:lnTo>
                  <a:pt x="0" y="9749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5400000">
            <a:off x="7099648" y="4860521"/>
            <a:ext cx="4088703" cy="7521026"/>
          </a:xfrm>
          <a:custGeom>
            <a:avLst/>
            <a:gdLst/>
            <a:ahLst/>
            <a:cxnLst/>
            <a:rect l="l" t="t" r="r" b="b"/>
            <a:pathLst>
              <a:path w="4088703" h="7521026">
                <a:moveTo>
                  <a:pt x="0" y="0"/>
                </a:moveTo>
                <a:lnTo>
                  <a:pt x="4088704" y="0"/>
                </a:lnTo>
                <a:lnTo>
                  <a:pt x="4088704" y="7521026"/>
                </a:lnTo>
                <a:lnTo>
                  <a:pt x="0" y="7521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2608462" y="3222561"/>
            <a:ext cx="13457506" cy="396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1"/>
              </a:lnSpc>
            </a:pPr>
            <a:r>
              <a:rPr lang="en-US" sz="11599" b="1" dirty="0" err="1">
                <a:solidFill>
                  <a:srgbClr val="398D42"/>
                </a:solidFill>
                <a:latin typeface="Gliker Bold"/>
                <a:ea typeface="Gliker Bold"/>
                <a:cs typeface="Gliker Bold"/>
                <a:sym typeface="Gliker Bold"/>
              </a:rPr>
              <a:t>SmartPlants</a:t>
            </a:r>
            <a:endParaRPr lang="en-US" sz="11599" b="1" dirty="0">
              <a:solidFill>
                <a:srgbClr val="398D42"/>
              </a:solidFill>
              <a:latin typeface="Gliker Bold"/>
              <a:ea typeface="Gliker Bold"/>
              <a:cs typeface="Gliker Bold"/>
              <a:sym typeface="Gliker Bold"/>
            </a:endParaRPr>
          </a:p>
          <a:p>
            <a:pPr algn="ctr">
              <a:lnSpc>
                <a:spcPts val="4753"/>
              </a:lnSpc>
            </a:pPr>
            <a:endParaRPr lang="en-US" sz="11599" b="1" dirty="0">
              <a:solidFill>
                <a:srgbClr val="398D42"/>
              </a:solidFill>
              <a:latin typeface="Gliker Bold"/>
              <a:ea typeface="Gliker Bold"/>
              <a:cs typeface="Gliker Bold"/>
              <a:sym typeface="Gliker Bold"/>
            </a:endParaRPr>
          </a:p>
          <a:p>
            <a:pPr algn="ctr">
              <a:lnSpc>
                <a:spcPts val="5141"/>
              </a:lnSpc>
            </a:pPr>
            <a:r>
              <a:rPr lang="en-US" sz="5300" b="1" dirty="0">
                <a:solidFill>
                  <a:srgbClr val="398D42"/>
                </a:solidFill>
                <a:latin typeface="Gliker Bold"/>
                <a:ea typeface="Gliker Bold"/>
                <a:cs typeface="Gliker Bold"/>
                <a:sym typeface="Gliker Bold"/>
              </a:rPr>
              <a:t>  </a:t>
            </a:r>
            <a:r>
              <a:rPr lang="en-US" sz="53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Levantamento</a:t>
            </a:r>
            <a:r>
              <a:rPr lang="en-US" sz="53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de </a:t>
            </a:r>
            <a:r>
              <a:rPr lang="en-US" sz="53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Requisitos</a:t>
            </a:r>
            <a:endParaRPr lang="en-US" sz="5300" dirty="0">
              <a:solidFill>
                <a:srgbClr val="398D42"/>
              </a:solidFill>
              <a:latin typeface="Gliker"/>
              <a:ea typeface="Gliker"/>
              <a:cs typeface="Gliker"/>
              <a:sym typeface="Gliker"/>
            </a:endParaRPr>
          </a:p>
          <a:p>
            <a:pPr algn="ctr">
              <a:lnSpc>
                <a:spcPts val="9699"/>
              </a:lnSpc>
            </a:pPr>
            <a:endParaRPr lang="en-US" sz="5300" dirty="0">
              <a:solidFill>
                <a:srgbClr val="398D42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0" y="3837681"/>
            <a:ext cx="6593170" cy="6449319"/>
          </a:xfrm>
          <a:custGeom>
            <a:avLst/>
            <a:gdLst/>
            <a:ahLst/>
            <a:cxnLst/>
            <a:rect l="l" t="t" r="r" b="b"/>
            <a:pathLst>
              <a:path w="6593170" h="6449319">
                <a:moveTo>
                  <a:pt x="6593170" y="0"/>
                </a:moveTo>
                <a:lnTo>
                  <a:pt x="0" y="0"/>
                </a:lnTo>
                <a:lnTo>
                  <a:pt x="0" y="6449319"/>
                </a:lnTo>
                <a:lnTo>
                  <a:pt x="6593170" y="6449319"/>
                </a:lnTo>
                <a:lnTo>
                  <a:pt x="659317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2769383" y="3837681"/>
            <a:ext cx="6593170" cy="6449319"/>
          </a:xfrm>
          <a:custGeom>
            <a:avLst/>
            <a:gdLst/>
            <a:ahLst/>
            <a:cxnLst/>
            <a:rect l="l" t="t" r="r" b="b"/>
            <a:pathLst>
              <a:path w="6593170" h="6449319">
                <a:moveTo>
                  <a:pt x="0" y="0"/>
                </a:moveTo>
                <a:lnTo>
                  <a:pt x="6593170" y="0"/>
                </a:lnTo>
                <a:lnTo>
                  <a:pt x="6593170" y="6449319"/>
                </a:lnTo>
                <a:lnTo>
                  <a:pt x="0" y="6449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-397001" y="-1136972"/>
            <a:ext cx="3865741" cy="4114800"/>
          </a:xfrm>
          <a:custGeom>
            <a:avLst/>
            <a:gdLst/>
            <a:ahLst/>
            <a:cxnLst/>
            <a:rect l="l" t="t" r="r" b="b"/>
            <a:pathLst>
              <a:path w="3865741" h="4114800">
                <a:moveTo>
                  <a:pt x="0" y="0"/>
                </a:moveTo>
                <a:lnTo>
                  <a:pt x="3865741" y="0"/>
                </a:lnTo>
                <a:lnTo>
                  <a:pt x="3865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3974364">
            <a:off x="10484334" y="-3210399"/>
            <a:ext cx="8772293" cy="8229600"/>
          </a:xfrm>
          <a:custGeom>
            <a:avLst/>
            <a:gdLst/>
            <a:ahLst/>
            <a:cxnLst/>
            <a:rect l="l" t="t" r="r" b="b"/>
            <a:pathLst>
              <a:path w="8772293" h="8229600">
                <a:moveTo>
                  <a:pt x="0" y="0"/>
                </a:moveTo>
                <a:lnTo>
                  <a:pt x="8772293" y="0"/>
                </a:lnTo>
                <a:lnTo>
                  <a:pt x="87722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EACA181-5F79-D651-BBBB-A5BD512422D2}"/>
              </a:ext>
            </a:extLst>
          </p:cNvPr>
          <p:cNvSpPr txBox="1"/>
          <p:nvPr/>
        </p:nvSpPr>
        <p:spPr>
          <a:xfrm>
            <a:off x="312220" y="7887089"/>
            <a:ext cx="10234678" cy="2857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Gliker"/>
                <a:ea typeface="Gliker"/>
                <a:cs typeface="Gliker"/>
                <a:sym typeface="Gliker"/>
              </a:rPr>
              <a:t>Grupo T12 – G19</a:t>
            </a:r>
          </a:p>
          <a:p>
            <a:r>
              <a:rPr lang="pt-PT" sz="2800" dirty="0" err="1">
                <a:solidFill>
                  <a:schemeClr val="bg1"/>
                </a:solidFill>
                <a:latin typeface="Gliker"/>
              </a:rPr>
              <a:t>Camile</a:t>
            </a:r>
            <a:r>
              <a:rPr lang="pt-PT" sz="2800" dirty="0">
                <a:solidFill>
                  <a:schemeClr val="bg1"/>
                </a:solidFill>
                <a:latin typeface="Gliker"/>
              </a:rPr>
              <a:t> Hasse | 64178</a:t>
            </a:r>
          </a:p>
          <a:p>
            <a:r>
              <a:rPr lang="pt-PT" sz="2800" dirty="0">
                <a:solidFill>
                  <a:schemeClr val="bg1"/>
                </a:solidFill>
                <a:latin typeface="Gliker"/>
              </a:rPr>
              <a:t>Marta Cabral | 64686</a:t>
            </a:r>
          </a:p>
          <a:p>
            <a:r>
              <a:rPr lang="pt-PT" sz="2800" dirty="0" err="1">
                <a:solidFill>
                  <a:schemeClr val="bg1"/>
                </a:solidFill>
                <a:latin typeface="Gliker"/>
              </a:rPr>
              <a:t>Gabriele</a:t>
            </a:r>
            <a:r>
              <a:rPr lang="pt-PT" sz="2800" dirty="0">
                <a:solidFill>
                  <a:schemeClr val="bg1"/>
                </a:solidFill>
                <a:latin typeface="Gliker"/>
              </a:rPr>
              <a:t> Botelho | 64149</a:t>
            </a:r>
          </a:p>
          <a:p>
            <a:r>
              <a:rPr lang="pt-PT" sz="2800" dirty="0" err="1">
                <a:solidFill>
                  <a:schemeClr val="bg1"/>
                </a:solidFill>
                <a:latin typeface="Gliker"/>
              </a:rPr>
              <a:t>Gizela</a:t>
            </a:r>
            <a:r>
              <a:rPr lang="pt-PT" sz="2800" dirty="0">
                <a:solidFill>
                  <a:schemeClr val="bg1"/>
                </a:solidFill>
                <a:latin typeface="Gliker"/>
              </a:rPr>
              <a:t> Monteiro | 63194</a:t>
            </a:r>
          </a:p>
          <a:p>
            <a:br>
              <a:rPr lang="pt-PT" sz="2400" b="1" dirty="0">
                <a:solidFill>
                  <a:schemeClr val="bg1"/>
                </a:solidFill>
              </a:rPr>
            </a:br>
            <a:endParaRPr lang="en-US" sz="2300" b="1" dirty="0">
              <a:solidFill>
                <a:schemeClr val="bg1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520053">
            <a:off x="-2700402" y="-6569009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0" y="0"/>
                </a:lnTo>
                <a:lnTo>
                  <a:pt x="17866930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9343914">
            <a:off x="1418300" y="3947978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5400000" flipV="1">
            <a:off x="12483135" y="4482135"/>
            <a:ext cx="4088703" cy="7521026"/>
          </a:xfrm>
          <a:custGeom>
            <a:avLst/>
            <a:gdLst/>
            <a:ahLst/>
            <a:cxnLst/>
            <a:rect l="l" t="t" r="r" b="b"/>
            <a:pathLst>
              <a:path w="4088703" h="7521026">
                <a:moveTo>
                  <a:pt x="0" y="7521026"/>
                </a:moveTo>
                <a:lnTo>
                  <a:pt x="4088704" y="7521026"/>
                </a:lnTo>
                <a:lnTo>
                  <a:pt x="4088704" y="0"/>
                </a:lnTo>
                <a:lnTo>
                  <a:pt x="0" y="0"/>
                </a:lnTo>
                <a:lnTo>
                  <a:pt x="0" y="75210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9628651" y="1014536"/>
            <a:ext cx="8659349" cy="12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5"/>
              </a:lnSpc>
            </a:pPr>
            <a:r>
              <a:rPr lang="en-US" sz="9696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Objetivo</a:t>
            </a:r>
            <a:endParaRPr lang="en-US" sz="9696" dirty="0">
              <a:solidFill>
                <a:srgbClr val="398D42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  <p:sp>
        <p:nvSpPr>
          <p:cNvPr id="6" name="Freeform 6"/>
          <p:cNvSpPr/>
          <p:nvPr/>
        </p:nvSpPr>
        <p:spPr>
          <a:xfrm rot="5400000" flipH="1">
            <a:off x="1800862" y="-1800862"/>
            <a:ext cx="4290499" cy="7892222"/>
          </a:xfrm>
          <a:custGeom>
            <a:avLst/>
            <a:gdLst/>
            <a:ahLst/>
            <a:cxnLst/>
            <a:rect l="l" t="t" r="r" b="b"/>
            <a:pathLst>
              <a:path w="4290499" h="7892222">
                <a:moveTo>
                  <a:pt x="4290498" y="0"/>
                </a:moveTo>
                <a:lnTo>
                  <a:pt x="0" y="0"/>
                </a:lnTo>
                <a:lnTo>
                  <a:pt x="0" y="7892222"/>
                </a:lnTo>
                <a:lnTo>
                  <a:pt x="4290498" y="7892222"/>
                </a:lnTo>
                <a:lnTo>
                  <a:pt x="42904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2583867" y="4223824"/>
            <a:ext cx="12423510" cy="2454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Desenvolver uma aplicação que auxilie os usuários no cuidado de plantas, tornando essa atividade mais simples, eficiente e prazerosa. Para garantir que a solução atenda verdadeiramente às necessidades dos usuários</a:t>
            </a:r>
          </a:p>
        </p:txBody>
      </p:sp>
      <p:sp>
        <p:nvSpPr>
          <p:cNvPr id="9" name="Freeform 9"/>
          <p:cNvSpPr/>
          <p:nvPr/>
        </p:nvSpPr>
        <p:spPr>
          <a:xfrm rot="-8400567">
            <a:off x="14766717" y="-1028700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0" y="0"/>
                </a:moveTo>
                <a:lnTo>
                  <a:pt x="4394447" y="0"/>
                </a:lnTo>
                <a:lnTo>
                  <a:pt x="4394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292947">
            <a:off x="1677952" y="-7478706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7978588" y="371242"/>
            <a:ext cx="10990173" cy="2464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5"/>
              </a:lnSpc>
            </a:pPr>
            <a:r>
              <a:rPr lang="en-US" sz="9696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Métodos de Levantamento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-2940664" y="6392855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696430" y="4108296"/>
            <a:ext cx="11117889" cy="484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Jovens e adultos entre 18 e 50 anos, estudantes e trabalhadores, interessados em cuidar de plantas de interior ou exterior.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4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Penélope (23 anos): estudante, iniciante, esquece-se de regar, valoriza lembretes simples.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Maria (34 anos): contabilista, experiente, usa apps e quer registar crescimento.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João (35 anos): informático, curioso, gosta de fotografar e partilhar.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Sara (24 anos): estudante, quer aprender e gosta de interfaces visuais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6430" y="3589459"/>
            <a:ext cx="10391988" cy="5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4392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Caracterização dos Utilizadores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73345" y="3589459"/>
            <a:ext cx="9079863" cy="5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4392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Métodos Utilizados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4319" y="4862512"/>
            <a:ext cx="689967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Questionário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18134" y="6210769"/>
            <a:ext cx="307535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Entrevistas presenciais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19368" y="4743506"/>
            <a:ext cx="1337726" cy="77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12"/>
              </a:lnSpc>
              <a:spcBef>
                <a:spcPct val="0"/>
              </a:spcBef>
            </a:pPr>
            <a:r>
              <a:rPr lang="en-US" sz="5992" u="none" strike="noStrike">
                <a:solidFill>
                  <a:srgbClr val="398D42"/>
                </a:solidFill>
                <a:latin typeface="Smile Font TH"/>
                <a:ea typeface="Smile Font TH"/>
                <a:cs typeface="Smile Font TH"/>
                <a:sym typeface="Smile Font TH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19368" y="6349860"/>
            <a:ext cx="1337726" cy="77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5992">
                <a:solidFill>
                  <a:srgbClr val="398D42"/>
                </a:solidFill>
                <a:latin typeface="Smile Font TH"/>
                <a:ea typeface="Smile Font TH"/>
                <a:cs typeface="Smile Font TH"/>
                <a:sym typeface="Smile Font TH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430" y="5496454"/>
            <a:ext cx="10391988" cy="5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4392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P</a:t>
            </a:r>
            <a:r>
              <a:rPr lang="en-US" sz="4392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ersonas:</a:t>
            </a:r>
          </a:p>
        </p:txBody>
      </p:sp>
      <p:sp>
        <p:nvSpPr>
          <p:cNvPr id="13" name="Freeform 13"/>
          <p:cNvSpPr/>
          <p:nvPr/>
        </p:nvSpPr>
        <p:spPr>
          <a:xfrm rot="-10457764" flipH="1">
            <a:off x="-4716" y="666256"/>
            <a:ext cx="2066833" cy="2348674"/>
          </a:xfrm>
          <a:custGeom>
            <a:avLst/>
            <a:gdLst/>
            <a:ahLst/>
            <a:cxnLst/>
            <a:rect l="l" t="t" r="r" b="b"/>
            <a:pathLst>
              <a:path w="2066833" h="2348674">
                <a:moveTo>
                  <a:pt x="2066832" y="0"/>
                </a:moveTo>
                <a:lnTo>
                  <a:pt x="0" y="0"/>
                </a:lnTo>
                <a:lnTo>
                  <a:pt x="0" y="2348674"/>
                </a:lnTo>
                <a:lnTo>
                  <a:pt x="2066832" y="2348674"/>
                </a:lnTo>
                <a:lnTo>
                  <a:pt x="20668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 rot="-9113747">
            <a:off x="-1815964" y="-3376348"/>
            <a:ext cx="8067436" cy="7891419"/>
          </a:xfrm>
          <a:custGeom>
            <a:avLst/>
            <a:gdLst/>
            <a:ahLst/>
            <a:cxnLst/>
            <a:rect l="l" t="t" r="r" b="b"/>
            <a:pathLst>
              <a:path w="8067436" h="7891419">
                <a:moveTo>
                  <a:pt x="0" y="0"/>
                </a:moveTo>
                <a:lnTo>
                  <a:pt x="8067436" y="0"/>
                </a:lnTo>
                <a:lnTo>
                  <a:pt x="8067436" y="7891419"/>
                </a:lnTo>
                <a:lnTo>
                  <a:pt x="0" y="7891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 rot="9621012">
            <a:off x="14880407" y="7200900"/>
            <a:ext cx="3865741" cy="4114800"/>
          </a:xfrm>
          <a:custGeom>
            <a:avLst/>
            <a:gdLst/>
            <a:ahLst/>
            <a:cxnLst/>
            <a:rect l="l" t="t" r="r" b="b"/>
            <a:pathLst>
              <a:path w="3865741" h="4114800">
                <a:moveTo>
                  <a:pt x="0" y="0"/>
                </a:moveTo>
                <a:lnTo>
                  <a:pt x="3865740" y="0"/>
                </a:lnTo>
                <a:lnTo>
                  <a:pt x="3865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43914">
            <a:off x="6184216" y="-221041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-10292947">
            <a:off x="-12271483" y="-2800909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281462" y="660844"/>
            <a:ext cx="13769231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660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Levantamento de Requisitos 1/4</a:t>
            </a:r>
          </a:p>
        </p:txBody>
      </p:sp>
      <p:sp>
        <p:nvSpPr>
          <p:cNvPr id="5" name="Freeform 5"/>
          <p:cNvSpPr/>
          <p:nvPr/>
        </p:nvSpPr>
        <p:spPr>
          <a:xfrm rot="1917611">
            <a:off x="-344235" y="7505157"/>
            <a:ext cx="6062589" cy="5930315"/>
          </a:xfrm>
          <a:custGeom>
            <a:avLst/>
            <a:gdLst/>
            <a:ahLst/>
            <a:cxnLst/>
            <a:rect l="l" t="t" r="r" b="b"/>
            <a:pathLst>
              <a:path w="6062589" h="5930315">
                <a:moveTo>
                  <a:pt x="0" y="0"/>
                </a:moveTo>
                <a:lnTo>
                  <a:pt x="6062589" y="0"/>
                </a:lnTo>
                <a:lnTo>
                  <a:pt x="6062589" y="5930315"/>
                </a:lnTo>
                <a:lnTo>
                  <a:pt x="0" y="5930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923" y="3520425"/>
            <a:ext cx="5275232" cy="438372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8596" y="3346068"/>
            <a:ext cx="6572886" cy="4512134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-677752" y="2524374"/>
            <a:ext cx="696220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exo/Género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2896" y="2524374"/>
            <a:ext cx="696220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Idade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33038" y="3096506"/>
            <a:ext cx="6378398" cy="525301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722541" y="2524374"/>
            <a:ext cx="696220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Ocupação</a:t>
            </a:r>
          </a:p>
        </p:txBody>
      </p:sp>
      <p:sp>
        <p:nvSpPr>
          <p:cNvPr id="12" name="Freeform 12"/>
          <p:cNvSpPr/>
          <p:nvPr/>
        </p:nvSpPr>
        <p:spPr>
          <a:xfrm rot="1493033">
            <a:off x="14898697" y="7404150"/>
            <a:ext cx="4562213" cy="4279974"/>
          </a:xfrm>
          <a:custGeom>
            <a:avLst/>
            <a:gdLst/>
            <a:ahLst/>
            <a:cxnLst/>
            <a:rect l="l" t="t" r="r" b="b"/>
            <a:pathLst>
              <a:path w="4562213" h="4279974">
                <a:moveTo>
                  <a:pt x="0" y="0"/>
                </a:moveTo>
                <a:lnTo>
                  <a:pt x="4562212" y="0"/>
                </a:lnTo>
                <a:lnTo>
                  <a:pt x="4562212" y="4279974"/>
                </a:lnTo>
                <a:lnTo>
                  <a:pt x="0" y="427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 rot="-9871310">
            <a:off x="14982580" y="-983496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292947">
            <a:off x="-12271483" y="-2800909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9343914">
            <a:off x="6184216" y="-221041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-133804" y="2490881"/>
            <a:ext cx="696220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Quantas plantas tem atualmente?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259" y="3319710"/>
            <a:ext cx="5540441" cy="492018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596604" y="2490881"/>
            <a:ext cx="548684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 tarefas executa atualmente para cuidar das plantas?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803" y="3224376"/>
            <a:ext cx="5713604" cy="511781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24736" y="660844"/>
            <a:ext cx="13769231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Levantamento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de </a:t>
            </a: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Requisitos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2/4</a:t>
            </a:r>
          </a:p>
        </p:txBody>
      </p:sp>
      <p:sp>
        <p:nvSpPr>
          <p:cNvPr id="9" name="Freeform 9"/>
          <p:cNvSpPr/>
          <p:nvPr/>
        </p:nvSpPr>
        <p:spPr>
          <a:xfrm rot="1493033">
            <a:off x="14898697" y="7404150"/>
            <a:ext cx="4562213" cy="4279974"/>
          </a:xfrm>
          <a:custGeom>
            <a:avLst/>
            <a:gdLst/>
            <a:ahLst/>
            <a:cxnLst/>
            <a:rect l="l" t="t" r="r" b="b"/>
            <a:pathLst>
              <a:path w="4562213" h="4279974">
                <a:moveTo>
                  <a:pt x="0" y="0"/>
                </a:moveTo>
                <a:lnTo>
                  <a:pt x="4562212" y="0"/>
                </a:lnTo>
                <a:lnTo>
                  <a:pt x="4562212" y="4279974"/>
                </a:lnTo>
                <a:lnTo>
                  <a:pt x="0" y="427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0579" y="2781880"/>
            <a:ext cx="6184625" cy="7044530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 rot="1917611">
            <a:off x="-344235" y="7505157"/>
            <a:ext cx="6062589" cy="5930315"/>
          </a:xfrm>
          <a:custGeom>
            <a:avLst/>
            <a:gdLst/>
            <a:ahLst/>
            <a:cxnLst/>
            <a:rect l="l" t="t" r="r" b="b"/>
            <a:pathLst>
              <a:path w="6062589" h="5930315">
                <a:moveTo>
                  <a:pt x="0" y="0"/>
                </a:moveTo>
                <a:lnTo>
                  <a:pt x="6062589" y="0"/>
                </a:lnTo>
                <a:lnTo>
                  <a:pt x="6062589" y="5930315"/>
                </a:lnTo>
                <a:lnTo>
                  <a:pt x="0" y="5930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 rot="-9871310">
            <a:off x="14982580" y="-983496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12374258" y="2490881"/>
            <a:ext cx="548684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Como aprendeu a cuidar das plantas?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292947">
            <a:off x="-12271483" y="-2800909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9343914">
            <a:off x="6184216" y="-221041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6503" y="3204238"/>
            <a:ext cx="7278031" cy="4990447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736" y="2455321"/>
            <a:ext cx="548684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Onde costuma cuidar das suas plantas?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54800" y="2455321"/>
            <a:ext cx="5057026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Quanto tempo tem disponível para cuidar das plantas?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264" y="2961402"/>
            <a:ext cx="7381918" cy="547612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24736" y="660844"/>
            <a:ext cx="13769231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Levantamento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de </a:t>
            </a: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Requisitos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3/4</a:t>
            </a:r>
          </a:p>
        </p:txBody>
      </p:sp>
      <p:sp>
        <p:nvSpPr>
          <p:cNvPr id="9" name="Freeform 9"/>
          <p:cNvSpPr/>
          <p:nvPr/>
        </p:nvSpPr>
        <p:spPr>
          <a:xfrm rot="1493033">
            <a:off x="14898697" y="7404150"/>
            <a:ext cx="4562213" cy="4279974"/>
          </a:xfrm>
          <a:custGeom>
            <a:avLst/>
            <a:gdLst/>
            <a:ahLst/>
            <a:cxnLst/>
            <a:rect l="l" t="t" r="r" b="b"/>
            <a:pathLst>
              <a:path w="4562213" h="4279974">
                <a:moveTo>
                  <a:pt x="0" y="0"/>
                </a:moveTo>
                <a:lnTo>
                  <a:pt x="4562212" y="0"/>
                </a:lnTo>
                <a:lnTo>
                  <a:pt x="4562212" y="4279974"/>
                </a:lnTo>
                <a:lnTo>
                  <a:pt x="0" y="427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9698" y="3161002"/>
            <a:ext cx="5320516" cy="5179439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 rot="1917611">
            <a:off x="-344235" y="7505157"/>
            <a:ext cx="6062589" cy="5930315"/>
          </a:xfrm>
          <a:custGeom>
            <a:avLst/>
            <a:gdLst/>
            <a:ahLst/>
            <a:cxnLst/>
            <a:rect l="l" t="t" r="r" b="b"/>
            <a:pathLst>
              <a:path w="6062589" h="5930315">
                <a:moveTo>
                  <a:pt x="0" y="0"/>
                </a:moveTo>
                <a:lnTo>
                  <a:pt x="6062589" y="0"/>
                </a:lnTo>
                <a:lnTo>
                  <a:pt x="6062589" y="5930315"/>
                </a:lnTo>
                <a:lnTo>
                  <a:pt x="0" y="5930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 rot="-9871310">
            <a:off x="14982580" y="-983496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12202358" y="2455321"/>
            <a:ext cx="548684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 outros instrumentos utiliza atualmente?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292947">
            <a:off x="-12271483" y="-2800909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9343914">
            <a:off x="6184216" y="-221041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9871310">
            <a:off x="14982580" y="-983496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037" y="2752456"/>
            <a:ext cx="8068280" cy="82682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205364" y="2455321"/>
            <a:ext cx="455261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 tarefas gostaria que a app facilitasse?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6592" y="3064921"/>
            <a:ext cx="7361825" cy="529543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424736" y="660844"/>
            <a:ext cx="13769231" cy="869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</a:pP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Levantamento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de </a:t>
            </a:r>
            <a:r>
              <a:rPr lang="en-US" sz="6600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Requisitos</a:t>
            </a:r>
            <a:r>
              <a:rPr lang="en-US" sz="6600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4/4</a:t>
            </a:r>
          </a:p>
        </p:txBody>
      </p:sp>
      <p:sp>
        <p:nvSpPr>
          <p:cNvPr id="9" name="Freeform 9"/>
          <p:cNvSpPr/>
          <p:nvPr/>
        </p:nvSpPr>
        <p:spPr>
          <a:xfrm rot="1493033">
            <a:off x="14898697" y="7404150"/>
            <a:ext cx="4562213" cy="4279974"/>
          </a:xfrm>
          <a:custGeom>
            <a:avLst/>
            <a:gdLst/>
            <a:ahLst/>
            <a:cxnLst/>
            <a:rect l="l" t="t" r="r" b="b"/>
            <a:pathLst>
              <a:path w="4562213" h="4279974">
                <a:moveTo>
                  <a:pt x="0" y="0"/>
                </a:moveTo>
                <a:lnTo>
                  <a:pt x="4562212" y="0"/>
                </a:lnTo>
                <a:lnTo>
                  <a:pt x="4562212" y="4279974"/>
                </a:lnTo>
                <a:lnTo>
                  <a:pt x="0" y="427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894" y="3218051"/>
            <a:ext cx="3729149" cy="5004106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 rot="1917611">
            <a:off x="-344235" y="7505157"/>
            <a:ext cx="6062589" cy="5930315"/>
          </a:xfrm>
          <a:custGeom>
            <a:avLst/>
            <a:gdLst/>
            <a:ahLst/>
            <a:cxnLst/>
            <a:rect l="l" t="t" r="r" b="b"/>
            <a:pathLst>
              <a:path w="6062589" h="5930315">
                <a:moveTo>
                  <a:pt x="0" y="0"/>
                </a:moveTo>
                <a:lnTo>
                  <a:pt x="6062589" y="0"/>
                </a:lnTo>
                <a:lnTo>
                  <a:pt x="6062589" y="5930315"/>
                </a:lnTo>
                <a:lnTo>
                  <a:pt x="0" y="59303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11561218" y="2464846"/>
            <a:ext cx="6480495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Se esquecer ou algo correr mal com a planta, o que gostaria que a aplicação fizesse?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4736" y="2504830"/>
            <a:ext cx="4655859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Já utiliza alguma app para monitorar as plantas?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43914">
            <a:off x="-8422726" y="1289150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0" y="0"/>
                </a:lnTo>
                <a:lnTo>
                  <a:pt x="17866930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-7011157">
            <a:off x="10119761" y="-4168748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4362865" y="648404"/>
            <a:ext cx="14045045" cy="12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5"/>
              </a:lnSpc>
            </a:pPr>
            <a:r>
              <a:rPr lang="en-US" sz="9696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Requisitos</a:t>
            </a:r>
            <a:r>
              <a:rPr lang="en-US" sz="9696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</a:t>
            </a:r>
            <a:r>
              <a:rPr lang="en-US" sz="9696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Funcionais</a:t>
            </a:r>
            <a:endParaRPr lang="en-US" sz="9696" dirty="0">
              <a:solidFill>
                <a:srgbClr val="398D42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  <p:sp>
        <p:nvSpPr>
          <p:cNvPr id="5" name="Freeform 5"/>
          <p:cNvSpPr/>
          <p:nvPr/>
        </p:nvSpPr>
        <p:spPr>
          <a:xfrm rot="1917611">
            <a:off x="11902966" y="7071470"/>
            <a:ext cx="5876800" cy="5748579"/>
          </a:xfrm>
          <a:custGeom>
            <a:avLst/>
            <a:gdLst/>
            <a:ahLst/>
            <a:cxnLst/>
            <a:rect l="l" t="t" r="r" b="b"/>
            <a:pathLst>
              <a:path w="5876800" h="5748579">
                <a:moveTo>
                  <a:pt x="0" y="0"/>
                </a:moveTo>
                <a:lnTo>
                  <a:pt x="5876801" y="0"/>
                </a:lnTo>
                <a:lnTo>
                  <a:pt x="5876801" y="5748579"/>
                </a:lnTo>
                <a:lnTo>
                  <a:pt x="0" y="5748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1408029" y="3105712"/>
            <a:ext cx="7291822" cy="284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endParaRPr/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Adicionar/remover plantas.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Visualizar nome, espécie, fotografia, estado, necessidades.</a:t>
            </a: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Freeform 7"/>
          <p:cNvSpPr/>
          <p:nvPr/>
        </p:nvSpPr>
        <p:spPr>
          <a:xfrm rot="9496025" flipH="1">
            <a:off x="-637218" y="-666091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>
                <a:moveTo>
                  <a:pt x="4394447" y="0"/>
                </a:moveTo>
                <a:lnTo>
                  <a:pt x="0" y="0"/>
                </a:lnTo>
                <a:lnTo>
                  <a:pt x="0" y="4114800"/>
                </a:lnTo>
                <a:lnTo>
                  <a:pt x="4394447" y="4114800"/>
                </a:lnTo>
                <a:lnTo>
                  <a:pt x="43944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10064193" y="3544802"/>
            <a:ext cx="7719666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Identificação de pragas/doenças.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Sugestões personalizadas de novas espécies.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8029" y="7993051"/>
            <a:ext cx="688148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Histórico de crescimento (fotos, notas, estatísticas).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9605" y="5486579"/>
            <a:ext cx="8724588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/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Alertas de rega e fertilização.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Acompanhamento de luz solar.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31212" y="5894633"/>
            <a:ext cx="8724588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Interface apelativa e intuitiva.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Opção de partilha numa comunidade</a:t>
            </a:r>
          </a:p>
          <a:p>
            <a:pPr marL="0" lvl="1" indent="0" algn="just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39605" y="3122401"/>
            <a:ext cx="9079863" cy="47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3699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Gestão de Plantas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9605" y="5472231"/>
            <a:ext cx="9079863" cy="47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8"/>
              </a:lnSpc>
              <a:spcBef>
                <a:spcPct val="0"/>
              </a:spcBef>
            </a:pPr>
            <a:r>
              <a:rPr lang="en-US" sz="3699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Monitorização e Alertas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9605" y="7456349"/>
            <a:ext cx="9079863" cy="47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8"/>
              </a:lnSpc>
              <a:spcBef>
                <a:spcPct val="0"/>
              </a:spcBef>
            </a:pPr>
            <a:r>
              <a:rPr lang="en-US" sz="3699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Regis</a:t>
            </a:r>
            <a:r>
              <a:rPr lang="en-US" sz="3699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to e Acompanhamento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64193" y="3017393"/>
            <a:ext cx="9079863" cy="47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8"/>
              </a:lnSpc>
              <a:spcBef>
                <a:spcPct val="0"/>
              </a:spcBef>
            </a:pPr>
            <a:r>
              <a:rPr lang="en-US" sz="3699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Sup</a:t>
            </a:r>
            <a:r>
              <a:rPr lang="en-US" sz="3699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orte ao Utilizador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64193" y="5472231"/>
            <a:ext cx="9079863" cy="479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8"/>
              </a:lnSpc>
              <a:spcBef>
                <a:spcPct val="0"/>
              </a:spcBef>
            </a:pPr>
            <a:r>
              <a:rPr lang="en-US" sz="3699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Exper</a:t>
            </a:r>
            <a:r>
              <a:rPr lang="en-US" sz="3699" u="none" strike="noStrike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iência e Interação</a:t>
            </a:r>
          </a:p>
        </p:txBody>
      </p:sp>
      <p:sp>
        <p:nvSpPr>
          <p:cNvPr id="17" name="Freeform 17"/>
          <p:cNvSpPr/>
          <p:nvPr/>
        </p:nvSpPr>
        <p:spPr>
          <a:xfrm rot="-4635346">
            <a:off x="-482549" y="8567856"/>
            <a:ext cx="2248353" cy="2393209"/>
          </a:xfrm>
          <a:custGeom>
            <a:avLst/>
            <a:gdLst/>
            <a:ahLst/>
            <a:cxnLst/>
            <a:rect l="l" t="t" r="r" b="b"/>
            <a:pathLst>
              <a:path w="2248353" h="2393209">
                <a:moveTo>
                  <a:pt x="0" y="0"/>
                </a:moveTo>
                <a:lnTo>
                  <a:pt x="2248353" y="0"/>
                </a:lnTo>
                <a:lnTo>
                  <a:pt x="2248353" y="2393209"/>
                </a:lnTo>
                <a:lnTo>
                  <a:pt x="0" y="23932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83778" flipH="1">
            <a:off x="13889395" y="5779428"/>
            <a:ext cx="4860254" cy="5711837"/>
          </a:xfrm>
          <a:custGeom>
            <a:avLst/>
            <a:gdLst/>
            <a:ahLst/>
            <a:cxnLst/>
            <a:rect l="l" t="t" r="r" b="b"/>
            <a:pathLst>
              <a:path w="4860254" h="5711837">
                <a:moveTo>
                  <a:pt x="4860254" y="0"/>
                </a:moveTo>
                <a:lnTo>
                  <a:pt x="0" y="0"/>
                </a:lnTo>
                <a:lnTo>
                  <a:pt x="0" y="5711836"/>
                </a:lnTo>
                <a:lnTo>
                  <a:pt x="4860254" y="5711836"/>
                </a:lnTo>
                <a:lnTo>
                  <a:pt x="48602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7022237">
            <a:off x="-2288482" y="-1476575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0" y="0"/>
                </a:lnTo>
                <a:lnTo>
                  <a:pt x="17866930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-383778" flipH="1">
            <a:off x="14042017" y="2040366"/>
            <a:ext cx="4860254" cy="5711837"/>
          </a:xfrm>
          <a:custGeom>
            <a:avLst/>
            <a:gdLst/>
            <a:ahLst/>
            <a:cxnLst/>
            <a:rect l="l" t="t" r="r" b="b"/>
            <a:pathLst>
              <a:path w="4860254" h="5711837">
                <a:moveTo>
                  <a:pt x="4860253" y="0"/>
                </a:moveTo>
                <a:lnTo>
                  <a:pt x="0" y="0"/>
                </a:lnTo>
                <a:lnTo>
                  <a:pt x="0" y="5711836"/>
                </a:lnTo>
                <a:lnTo>
                  <a:pt x="4860253" y="5711836"/>
                </a:lnTo>
                <a:lnTo>
                  <a:pt x="48602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Freeform 5"/>
          <p:cNvSpPr/>
          <p:nvPr/>
        </p:nvSpPr>
        <p:spPr>
          <a:xfrm rot="1414505" flipH="1">
            <a:off x="14998935" y="686806"/>
            <a:ext cx="4860254" cy="5711837"/>
          </a:xfrm>
          <a:custGeom>
            <a:avLst/>
            <a:gdLst/>
            <a:ahLst/>
            <a:cxnLst/>
            <a:rect l="l" t="t" r="r" b="b"/>
            <a:pathLst>
              <a:path w="4860254" h="5711837">
                <a:moveTo>
                  <a:pt x="4860254" y="0"/>
                </a:moveTo>
                <a:lnTo>
                  <a:pt x="0" y="0"/>
                </a:lnTo>
                <a:lnTo>
                  <a:pt x="0" y="5711836"/>
                </a:lnTo>
                <a:lnTo>
                  <a:pt x="4860254" y="5711836"/>
                </a:lnTo>
                <a:lnTo>
                  <a:pt x="48602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2019189" y="3477461"/>
            <a:ext cx="6859913" cy="748354"/>
          </a:xfrm>
          <a:custGeom>
            <a:avLst/>
            <a:gdLst/>
            <a:ahLst/>
            <a:cxnLst/>
            <a:rect l="l" t="t" r="r" b="b"/>
            <a:pathLst>
              <a:path w="6859913" h="748354">
                <a:moveTo>
                  <a:pt x="0" y="0"/>
                </a:moveTo>
                <a:lnTo>
                  <a:pt x="6859913" y="0"/>
                </a:lnTo>
                <a:lnTo>
                  <a:pt x="6859913" y="748354"/>
                </a:lnTo>
                <a:lnTo>
                  <a:pt x="0" y="7483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-663052" y="731368"/>
            <a:ext cx="16027741" cy="122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18"/>
              </a:lnSpc>
              <a:spcBef>
                <a:spcPct val="0"/>
              </a:spcBef>
            </a:pPr>
            <a:r>
              <a:rPr lang="en-US" sz="9297" u="none" strike="noStrike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Funcionalidade</a:t>
            </a:r>
            <a:r>
              <a:rPr lang="en-US" sz="9297" u="none" strike="noStrike" dirty="0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 </a:t>
            </a:r>
            <a:r>
              <a:rPr lang="en-US" sz="9297" u="none" strike="noStrike" dirty="0" err="1">
                <a:solidFill>
                  <a:srgbClr val="398D42"/>
                </a:solidFill>
                <a:latin typeface="Gliker"/>
                <a:ea typeface="Gliker"/>
                <a:cs typeface="Gliker"/>
                <a:sym typeface="Gliker"/>
              </a:rPr>
              <a:t>Adicional</a:t>
            </a:r>
            <a:endParaRPr lang="en-US" sz="9297" u="none" strike="noStrike" dirty="0">
              <a:solidFill>
                <a:srgbClr val="398D42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42100" y="2808128"/>
            <a:ext cx="11528568" cy="126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Funcionalidade adicional selecionada:</a:t>
            </a:r>
          </a:p>
          <a:p>
            <a:pPr algn="l">
              <a:lnSpc>
                <a:spcPts val="840"/>
              </a:lnSpc>
              <a:spcBef>
                <a:spcPct val="0"/>
              </a:spcBef>
            </a:pPr>
            <a:endParaRPr lang="en-US" sz="3299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  - Quiz “Descobrir a minha planta ideal”</a:t>
            </a:r>
          </a:p>
        </p:txBody>
      </p:sp>
      <p:sp>
        <p:nvSpPr>
          <p:cNvPr id="9" name="Freeform 9"/>
          <p:cNvSpPr/>
          <p:nvPr/>
        </p:nvSpPr>
        <p:spPr>
          <a:xfrm>
            <a:off x="1808772" y="5325880"/>
            <a:ext cx="7070330" cy="771309"/>
          </a:xfrm>
          <a:custGeom>
            <a:avLst/>
            <a:gdLst/>
            <a:ahLst/>
            <a:cxnLst/>
            <a:rect l="l" t="t" r="r" b="b"/>
            <a:pathLst>
              <a:path w="7070330" h="771309">
                <a:moveTo>
                  <a:pt x="0" y="0"/>
                </a:moveTo>
                <a:lnTo>
                  <a:pt x="7070330" y="0"/>
                </a:lnTo>
                <a:lnTo>
                  <a:pt x="7070330" y="771309"/>
                </a:lnTo>
                <a:lnTo>
                  <a:pt x="0" y="77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642100" y="5413581"/>
            <a:ext cx="13417435" cy="369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O quiz “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Descobrir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minha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planta ideal”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será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funcionalidade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integrada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SmartPlants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499" dirty="0">
              <a:solidFill>
                <a:srgbClr val="164D42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Trata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-se de um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questionário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interativo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analisa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perfil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utilizador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gera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recomendações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automáticas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plantas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adequadas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às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suas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condições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3499" dirty="0" err="1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preferências</a:t>
            </a:r>
            <a:r>
              <a:rPr lang="en-US" sz="3499" dirty="0">
                <a:solidFill>
                  <a:srgbClr val="164D4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90246">
            <a:off x="-8446515" y="-1333715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0" y="0"/>
                </a:lnTo>
                <a:lnTo>
                  <a:pt x="17866930" y="12181999"/>
                </a:lnTo>
                <a:lnTo>
                  <a:pt x="0" y="12181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Freeform 3"/>
          <p:cNvSpPr/>
          <p:nvPr/>
        </p:nvSpPr>
        <p:spPr>
          <a:xfrm rot="290246">
            <a:off x="11461461" y="336314"/>
            <a:ext cx="17866931" cy="12181998"/>
          </a:xfrm>
          <a:custGeom>
            <a:avLst/>
            <a:gdLst/>
            <a:ahLst/>
            <a:cxnLst/>
            <a:rect l="l" t="t" r="r" b="b"/>
            <a:pathLst>
              <a:path w="17866931" h="12181998">
                <a:moveTo>
                  <a:pt x="0" y="0"/>
                </a:moveTo>
                <a:lnTo>
                  <a:pt x="17866931" y="0"/>
                </a:lnTo>
                <a:lnTo>
                  <a:pt x="17866931" y="12181998"/>
                </a:lnTo>
                <a:lnTo>
                  <a:pt x="0" y="1218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" name="Freeform 4"/>
          <p:cNvSpPr/>
          <p:nvPr/>
        </p:nvSpPr>
        <p:spPr>
          <a:xfrm rot="5400000">
            <a:off x="7292863" y="4711152"/>
            <a:ext cx="4088703" cy="7521026"/>
          </a:xfrm>
          <a:custGeom>
            <a:avLst/>
            <a:gdLst/>
            <a:ahLst/>
            <a:cxnLst/>
            <a:rect l="l" t="t" r="r" b="b"/>
            <a:pathLst>
              <a:path w="4088703" h="7521026">
                <a:moveTo>
                  <a:pt x="0" y="0"/>
                </a:moveTo>
                <a:lnTo>
                  <a:pt x="4088704" y="0"/>
                </a:lnTo>
                <a:lnTo>
                  <a:pt x="4088704" y="7521026"/>
                </a:lnTo>
                <a:lnTo>
                  <a:pt x="0" y="7521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4468249" y="3047542"/>
            <a:ext cx="9505947" cy="1929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90"/>
              </a:lnSpc>
            </a:pPr>
            <a:r>
              <a:rPr lang="en-US" sz="14526" b="1">
                <a:solidFill>
                  <a:srgbClr val="398D42"/>
                </a:solidFill>
                <a:latin typeface="Gliker Bold"/>
                <a:ea typeface="Gliker Bold"/>
                <a:cs typeface="Gliker Bold"/>
                <a:sym typeface="Gliker Bold"/>
              </a:rPr>
              <a:t>Obrigada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-69257" y="3837681"/>
            <a:ext cx="6593170" cy="6449319"/>
          </a:xfrm>
          <a:custGeom>
            <a:avLst/>
            <a:gdLst/>
            <a:ahLst/>
            <a:cxnLst/>
            <a:rect l="l" t="t" r="r" b="b"/>
            <a:pathLst>
              <a:path w="6593170" h="6449319">
                <a:moveTo>
                  <a:pt x="6593170" y="0"/>
                </a:moveTo>
                <a:lnTo>
                  <a:pt x="0" y="0"/>
                </a:lnTo>
                <a:lnTo>
                  <a:pt x="0" y="6449319"/>
                </a:lnTo>
                <a:lnTo>
                  <a:pt x="6593170" y="6449319"/>
                </a:lnTo>
                <a:lnTo>
                  <a:pt x="659317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12277536" y="3855010"/>
            <a:ext cx="6593170" cy="6449319"/>
          </a:xfrm>
          <a:custGeom>
            <a:avLst/>
            <a:gdLst/>
            <a:ahLst/>
            <a:cxnLst/>
            <a:rect l="l" t="t" r="r" b="b"/>
            <a:pathLst>
              <a:path w="6593170" h="6449319">
                <a:moveTo>
                  <a:pt x="0" y="0"/>
                </a:moveTo>
                <a:lnTo>
                  <a:pt x="6593170" y="0"/>
                </a:lnTo>
                <a:lnTo>
                  <a:pt x="6593170" y="6449319"/>
                </a:lnTo>
                <a:lnTo>
                  <a:pt x="0" y="6449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/>
          <p:cNvSpPr/>
          <p:nvPr/>
        </p:nvSpPr>
        <p:spPr>
          <a:xfrm>
            <a:off x="-569156" y="-1021405"/>
            <a:ext cx="3865741" cy="4114800"/>
          </a:xfrm>
          <a:custGeom>
            <a:avLst/>
            <a:gdLst/>
            <a:ahLst/>
            <a:cxnLst/>
            <a:rect l="l" t="t" r="r" b="b"/>
            <a:pathLst>
              <a:path w="3865741" h="4114800">
                <a:moveTo>
                  <a:pt x="0" y="0"/>
                </a:moveTo>
                <a:lnTo>
                  <a:pt x="3865741" y="0"/>
                </a:lnTo>
                <a:lnTo>
                  <a:pt x="3865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Freeform 9"/>
          <p:cNvSpPr/>
          <p:nvPr/>
        </p:nvSpPr>
        <p:spPr>
          <a:xfrm rot="3974364">
            <a:off x="10484334" y="-3210399"/>
            <a:ext cx="8772293" cy="8229600"/>
          </a:xfrm>
          <a:custGeom>
            <a:avLst/>
            <a:gdLst/>
            <a:ahLst/>
            <a:cxnLst/>
            <a:rect l="l" t="t" r="r" b="b"/>
            <a:pathLst>
              <a:path w="8772293" h="8229600">
                <a:moveTo>
                  <a:pt x="0" y="0"/>
                </a:moveTo>
                <a:lnTo>
                  <a:pt x="8772293" y="0"/>
                </a:lnTo>
                <a:lnTo>
                  <a:pt x="87722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9856444-609D-D386-D3AB-BF59D5E644DB}"/>
              </a:ext>
            </a:extLst>
          </p:cNvPr>
          <p:cNvSpPr txBox="1"/>
          <p:nvPr/>
        </p:nvSpPr>
        <p:spPr>
          <a:xfrm>
            <a:off x="206261" y="8004490"/>
            <a:ext cx="10234678" cy="2549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220"/>
              </a:lnSpc>
              <a:spcBef>
                <a:spcPct val="0"/>
              </a:spcBef>
              <a:defRPr sz="2800">
                <a:solidFill>
                  <a:schemeClr val="bg1"/>
                </a:solidFill>
                <a:latin typeface="Gliker"/>
                <a:ea typeface="Gliker"/>
                <a:cs typeface="Gliker"/>
              </a:defRPr>
            </a:lvl1pPr>
          </a:lstStyle>
          <a:p>
            <a:r>
              <a:rPr lang="en-US" dirty="0">
                <a:sym typeface="Gliker"/>
              </a:rPr>
              <a:t>Grupo T12 – G19</a:t>
            </a:r>
          </a:p>
          <a:p>
            <a:r>
              <a:rPr lang="pt-PT" dirty="0" err="1"/>
              <a:t>Camile</a:t>
            </a:r>
            <a:r>
              <a:rPr lang="pt-PT" dirty="0"/>
              <a:t> Hasse | 64178</a:t>
            </a:r>
          </a:p>
          <a:p>
            <a:r>
              <a:rPr lang="pt-PT" dirty="0"/>
              <a:t>Marta Cabral | 64686</a:t>
            </a:r>
          </a:p>
          <a:p>
            <a:r>
              <a:rPr lang="pt-PT" dirty="0" err="1"/>
              <a:t>Gabriele</a:t>
            </a:r>
            <a:r>
              <a:rPr lang="pt-PT" dirty="0"/>
              <a:t> Botelho | 64149</a:t>
            </a:r>
          </a:p>
          <a:p>
            <a:r>
              <a:rPr lang="pt-PT" dirty="0" err="1"/>
              <a:t>Gizela</a:t>
            </a:r>
            <a:r>
              <a:rPr lang="pt-PT" dirty="0"/>
              <a:t> Monteiro | 63194</a:t>
            </a:r>
          </a:p>
          <a:p>
            <a:br>
              <a:rPr lang="pt-PT" dirty="0"/>
            </a:br>
            <a:endParaRPr lang="en-US" dirty="0">
              <a:sym typeface="Glik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414</Words>
  <Application>Microsoft Office PowerPoint</Application>
  <PresentationFormat>Personalizados</PresentationFormat>
  <Paragraphs>73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7" baseType="lpstr">
      <vt:lpstr>Gliker</vt:lpstr>
      <vt:lpstr>Smile Font TH</vt:lpstr>
      <vt:lpstr>Gliker Bold</vt:lpstr>
      <vt:lpstr>Arial</vt:lpstr>
      <vt:lpstr>Inter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IC-T12-G19-ApresentaçãoRequisitos</dc:title>
  <cp:lastModifiedBy>Marta Cabral</cp:lastModifiedBy>
  <cp:revision>3</cp:revision>
  <dcterms:created xsi:type="dcterms:W3CDTF">2006-08-16T00:00:00Z</dcterms:created>
  <dcterms:modified xsi:type="dcterms:W3CDTF">2025-10-07T09:26:36Z</dcterms:modified>
  <dc:identifier>DAG08BPPi48</dc:identifier>
</cp:coreProperties>
</file>